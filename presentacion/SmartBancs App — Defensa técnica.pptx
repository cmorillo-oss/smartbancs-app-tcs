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SmartBancs es una plataforma de transferencias en tiempo real con recomendaciones de inteligencia artificial. El reto planteaba cuatro condicionantes: un objetivo de diez mil transacciones por segundo, transferencias por debajo de dos segundos, un core legacy llamado Bancs que se degrada si recibe consultas directas en volumen, y un servicio de IA que no puede bloquear la transacción. Con esos condicionantes, el objetivo del MVP fue demostrar cuatro cosas: consistencia, concurrencia, desacoplamiento y observabilidad.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central. El camino principal es este: el cliente envía la transferencia, llega a la API en FastAPI y, dentro de una sola transacción de PostgreSQL, se actualizan los saldos, se registra el ledger y se escribe un evento en la tabla outbox. Al confirmarse el commit, el cliente ya recibe su respuesta, por debajo de dos segundos. Bancs no puede estar en ese camino porque se degrada con consultas directas en volumen, y la IA tampoco porque su latencia es impredecible. El outbox es lo que permite desacoplarlos: como el evento se guarda en la misma transacción que el dinero, después del commit un worker independiente lo recoge y se encarga de Bancs, por lotes, y del servicio de IA. Si alguno de los dos falla, el evento sigue ahí y se reintenta. Todo el recorrido lleva logs estructurados, métricas y un trace_id por petición.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tecnologías y, sobre todo, para qué las usé. FastAPI para la API transaccional. PostgreSQL porque el reto exige scripts DDL y DML, control de concurrencia y reproducir deadlocks: ahí viven los saldos, el ledger y el bloqueo. El outbox y su worker son los que hacen el procesamiento asíncrono. Prometheus y los logs estructurados dan la observabilidad. Y Docker Compose levanta todo el entorno con un solo comando. A la derecha, los tres mecanismos que sostienen las decisiones: para la concurrencia, SELECT FOR UPDATE con orden determinista de bloqueo; para Bancs, sincronización por lotes en vez de llamadas individuales; y para la IA, procesamiento asíncrono detrás de un circuit breaker, de modo que si empieza a fallar dejo de llamarla y la transferencia no se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estos son los resultados, que es lo que demuestra que las decisiones fueron probadas y no solo afirmadas. Implementé a propósito la versión con el orden de bloqueo invertido para comparar: veintinueve deadlocks en treinta transferencias cruzadas, frente a cero con el orden determinista. En la sincronización con Bancs, mil cambios pasan de treinta y siete coma siete segundos uno por uno a cuatro coma uno por lotes. El throughput medido es de treinta y siete a cuarenta y siete transacciones por segundo, en una prueba local con un solo proceso. Y está validado todo esto: consistencia financiera, idempotencia, integridad del ledger, concurrencia, Bancs desacoplado, IA no bloqueante y observabilidad. Los diez mil por segundo son el objetivo arquitectónico, no un resultado medido de este MVP. Consistencia primero, escalabilidad después.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812800" y="812800"/>
            <a:ext cx="10883392" cy="718741"/>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F2F6FA"/>
                </a:solidFill>
                <a:latin typeface="Arial" pitchFamily="34" charset="0"/>
                <a:ea typeface="Arial" pitchFamily="34" charset="-122"/>
                <a:cs typeface="Arial" pitchFamily="34" charset="-120"/>
              </a:rPr>
              <a:t>SmartBancs App</a:t>
            </a:r>
            <a:endParaRPr lang="en-US" sz="5200" dirty="0"/>
          </a:p>
        </p:txBody>
      </p:sp>
      <p:sp>
        <p:nvSpPr>
          <p:cNvPr id="3" name="Text 1"/>
          <p:cNvSpPr/>
          <p:nvPr/>
        </p:nvSpPr>
        <p:spPr>
          <a:xfrm>
            <a:off x="812800" y="1607741"/>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9FB3C8"/>
                </a:solidFill>
                <a:latin typeface="Arial" pitchFamily="34" charset="0"/>
                <a:ea typeface="Arial" pitchFamily="34" charset="-122"/>
                <a:cs typeface="Arial" pitchFamily="34" charset="-120"/>
              </a:rPr>
              <a:t>Procesamiento transaccional resiliente</a:t>
            </a:r>
            <a:endParaRPr lang="en-US" sz="2200" dirty="0"/>
          </a:p>
        </p:txBody>
      </p:sp>
      <p:sp>
        <p:nvSpPr>
          <p:cNvPr id="4" name="Shape 2"/>
          <p:cNvSpPr/>
          <p:nvPr/>
        </p:nvSpPr>
        <p:spPr>
          <a:xfrm>
            <a:off x="812800" y="2757587"/>
            <a:ext cx="2489200" cy="1801316"/>
          </a:xfrm>
          <a:prstGeom prst="roundRect">
            <a:avLst>
              <a:gd name="adj" fmla="val 5640"/>
            </a:avLst>
          </a:prstGeom>
          <a:solidFill>
            <a:srgbClr val="12263D"/>
          </a:solidFill>
          <a:ln/>
        </p:spPr>
      </p:sp>
      <p:sp>
        <p:nvSpPr>
          <p:cNvPr id="5" name="Text 3"/>
          <p:cNvSpPr/>
          <p:nvPr/>
        </p:nvSpPr>
        <p:spPr>
          <a:xfrm>
            <a:off x="1028700" y="3011587"/>
            <a:ext cx="2119122" cy="412055"/>
          </a:xfrm>
          <a:prstGeom prst="rect">
            <a:avLst/>
          </a:prstGeom>
          <a:noFill/>
          <a:ln/>
        </p:spPr>
        <p:txBody>
          <a:bodyPr wrap="square" lIns="0" tIns="0" rIns="0" bIns="0" rtlCol="0" anchor="t">
            <a:normAutofit/>
          </a:bodyPr>
          <a:lstStyle/>
          <a:p>
            <a:pPr algn="l" indent="0" marL="0">
              <a:lnSpc>
                <a:spcPts val="3045"/>
              </a:lnSpc>
              <a:buNone/>
            </a:pPr>
            <a:r>
              <a:rPr lang="en-US" sz="2900" b="1" dirty="0">
                <a:solidFill>
                  <a:srgbClr val="4DA6E8"/>
                </a:solidFill>
                <a:latin typeface="Arial" pitchFamily="34" charset="0"/>
                <a:ea typeface="Arial" pitchFamily="34" charset="-122"/>
                <a:cs typeface="Arial" pitchFamily="34" charset="-120"/>
              </a:rPr>
              <a:t>10.000</a:t>
            </a:r>
            <a:endParaRPr lang="en-US" sz="2900" dirty="0"/>
          </a:p>
        </p:txBody>
      </p:sp>
      <p:sp>
        <p:nvSpPr>
          <p:cNvPr id="6" name="Text 4"/>
          <p:cNvSpPr/>
          <p:nvPr/>
        </p:nvSpPr>
        <p:spPr>
          <a:xfrm>
            <a:off x="1028700" y="3487142"/>
            <a:ext cx="21191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6FA"/>
                </a:solidFill>
                <a:latin typeface="Arial" pitchFamily="34" charset="0"/>
                <a:ea typeface="Arial" pitchFamily="34" charset="-122"/>
                <a:cs typeface="Arial" pitchFamily="34" charset="-120"/>
              </a:rPr>
              <a:t>TPS</a:t>
            </a:r>
            <a:endParaRPr lang="en-US" sz="1500" dirty="0"/>
          </a:p>
        </p:txBody>
      </p:sp>
      <p:sp>
        <p:nvSpPr>
          <p:cNvPr id="7" name="Text 5"/>
          <p:cNvSpPr/>
          <p:nvPr/>
        </p:nvSpPr>
        <p:spPr>
          <a:xfrm>
            <a:off x="1028700" y="3842742"/>
            <a:ext cx="211912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FB3C8"/>
                </a:solidFill>
                <a:latin typeface="Arial" pitchFamily="34" charset="0"/>
                <a:ea typeface="Arial" pitchFamily="34" charset="-122"/>
                <a:cs typeface="Arial" pitchFamily="34" charset="-120"/>
              </a:rPr>
              <a:t>Objetivo planteado</a:t>
            </a:r>
            <a:endParaRPr lang="en-US" sz="1400" dirty="0"/>
          </a:p>
        </p:txBody>
      </p:sp>
      <p:sp>
        <p:nvSpPr>
          <p:cNvPr id="8" name="Shape 6"/>
          <p:cNvSpPr/>
          <p:nvPr/>
        </p:nvSpPr>
        <p:spPr>
          <a:xfrm>
            <a:off x="3505200" y="2757587"/>
            <a:ext cx="2489200" cy="1801316"/>
          </a:xfrm>
          <a:prstGeom prst="roundRect">
            <a:avLst>
              <a:gd name="adj" fmla="val 5640"/>
            </a:avLst>
          </a:prstGeom>
          <a:solidFill>
            <a:srgbClr val="12263D"/>
          </a:solidFill>
          <a:ln/>
        </p:spPr>
      </p:sp>
      <p:sp>
        <p:nvSpPr>
          <p:cNvPr id="9" name="Text 7"/>
          <p:cNvSpPr/>
          <p:nvPr/>
        </p:nvSpPr>
        <p:spPr>
          <a:xfrm>
            <a:off x="3721100" y="3011587"/>
            <a:ext cx="2119122" cy="412055"/>
          </a:xfrm>
          <a:prstGeom prst="rect">
            <a:avLst/>
          </a:prstGeom>
          <a:noFill/>
          <a:ln/>
        </p:spPr>
        <p:txBody>
          <a:bodyPr wrap="square" lIns="0" tIns="0" rIns="0" bIns="0" rtlCol="0" anchor="t">
            <a:normAutofit/>
          </a:bodyPr>
          <a:lstStyle/>
          <a:p>
            <a:pPr algn="l" indent="0" marL="0">
              <a:lnSpc>
                <a:spcPts val="3045"/>
              </a:lnSpc>
              <a:buNone/>
            </a:pPr>
            <a:r>
              <a:rPr lang="en-US" sz="2900" b="1" dirty="0">
                <a:solidFill>
                  <a:srgbClr val="4DA6E8"/>
                </a:solidFill>
                <a:latin typeface="Arial" pitchFamily="34" charset="0"/>
                <a:ea typeface="Arial" pitchFamily="34" charset="-122"/>
                <a:cs typeface="Arial" pitchFamily="34" charset="-120"/>
              </a:rPr>
              <a:t>&lt; 2 s</a:t>
            </a:r>
            <a:endParaRPr lang="en-US" sz="2900" dirty="0"/>
          </a:p>
        </p:txBody>
      </p:sp>
      <p:sp>
        <p:nvSpPr>
          <p:cNvPr id="10" name="Text 8"/>
          <p:cNvSpPr/>
          <p:nvPr/>
        </p:nvSpPr>
        <p:spPr>
          <a:xfrm>
            <a:off x="3721100" y="3487142"/>
            <a:ext cx="21191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6FA"/>
                </a:solidFill>
                <a:latin typeface="Arial" pitchFamily="34" charset="0"/>
                <a:ea typeface="Arial" pitchFamily="34" charset="-122"/>
                <a:cs typeface="Arial" pitchFamily="34" charset="-120"/>
              </a:rPr>
              <a:t>Transferencias</a:t>
            </a:r>
            <a:endParaRPr lang="en-US" sz="1500" dirty="0"/>
          </a:p>
        </p:txBody>
      </p:sp>
      <p:sp>
        <p:nvSpPr>
          <p:cNvPr id="11" name="Text 9"/>
          <p:cNvSpPr/>
          <p:nvPr/>
        </p:nvSpPr>
        <p:spPr>
          <a:xfrm>
            <a:off x="3721100" y="3842742"/>
            <a:ext cx="211912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FB3C8"/>
                </a:solidFill>
                <a:latin typeface="Arial" pitchFamily="34" charset="0"/>
                <a:ea typeface="Arial" pitchFamily="34" charset="-122"/>
                <a:cs typeface="Arial" pitchFamily="34" charset="-120"/>
              </a:rPr>
              <a:t>Tiempo comprometido</a:t>
            </a:r>
            <a:endParaRPr lang="en-US" sz="1400" dirty="0"/>
          </a:p>
        </p:txBody>
      </p:sp>
      <p:sp>
        <p:nvSpPr>
          <p:cNvPr id="12" name="Shape 10"/>
          <p:cNvSpPr/>
          <p:nvPr/>
        </p:nvSpPr>
        <p:spPr>
          <a:xfrm>
            <a:off x="6197600" y="2757587"/>
            <a:ext cx="2489200" cy="1801316"/>
          </a:xfrm>
          <a:prstGeom prst="roundRect">
            <a:avLst>
              <a:gd name="adj" fmla="val 5640"/>
            </a:avLst>
          </a:prstGeom>
          <a:solidFill>
            <a:srgbClr val="12263D"/>
          </a:solidFill>
          <a:ln/>
        </p:spPr>
      </p:sp>
      <p:sp>
        <p:nvSpPr>
          <p:cNvPr id="13" name="Text 11"/>
          <p:cNvSpPr/>
          <p:nvPr/>
        </p:nvSpPr>
        <p:spPr>
          <a:xfrm>
            <a:off x="6413500" y="3011587"/>
            <a:ext cx="2119122" cy="412055"/>
          </a:xfrm>
          <a:prstGeom prst="rect">
            <a:avLst/>
          </a:prstGeom>
          <a:noFill/>
          <a:ln/>
        </p:spPr>
        <p:txBody>
          <a:bodyPr wrap="square" lIns="0" tIns="0" rIns="0" bIns="0" rtlCol="0" anchor="t">
            <a:normAutofit/>
          </a:bodyPr>
          <a:lstStyle/>
          <a:p>
            <a:pPr algn="l" indent="0" marL="0">
              <a:lnSpc>
                <a:spcPts val="3045"/>
              </a:lnSpc>
              <a:buNone/>
            </a:pPr>
            <a:r>
              <a:rPr lang="en-US" sz="2900" b="1" dirty="0">
                <a:solidFill>
                  <a:srgbClr val="4DA6E8"/>
                </a:solidFill>
                <a:latin typeface="Arial" pitchFamily="34" charset="0"/>
                <a:ea typeface="Arial" pitchFamily="34" charset="-122"/>
                <a:cs typeface="Arial" pitchFamily="34" charset="-120"/>
              </a:rPr>
              <a:t>Bancs</a:t>
            </a:r>
            <a:endParaRPr lang="en-US" sz="2900" dirty="0"/>
          </a:p>
        </p:txBody>
      </p:sp>
      <p:sp>
        <p:nvSpPr>
          <p:cNvPr id="14" name="Text 12"/>
          <p:cNvSpPr/>
          <p:nvPr/>
        </p:nvSpPr>
        <p:spPr>
          <a:xfrm>
            <a:off x="6413500" y="3487142"/>
            <a:ext cx="21191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6FA"/>
                </a:solidFill>
                <a:latin typeface="Arial" pitchFamily="34" charset="0"/>
                <a:ea typeface="Arial" pitchFamily="34" charset="-122"/>
                <a:cs typeface="Arial" pitchFamily="34" charset="-120"/>
              </a:rPr>
              <a:t>Core legacy</a:t>
            </a:r>
            <a:endParaRPr lang="en-US" sz="1500" dirty="0"/>
          </a:p>
        </p:txBody>
      </p:sp>
      <p:sp>
        <p:nvSpPr>
          <p:cNvPr id="15" name="Text 13"/>
          <p:cNvSpPr/>
          <p:nvPr/>
        </p:nvSpPr>
        <p:spPr>
          <a:xfrm>
            <a:off x="6413500" y="3842742"/>
            <a:ext cx="211912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FB3C8"/>
                </a:solidFill>
                <a:latin typeface="Arial" pitchFamily="34" charset="0"/>
                <a:ea typeface="Arial" pitchFamily="34" charset="-122"/>
                <a:cs typeface="Arial" pitchFamily="34" charset="-120"/>
              </a:rPr>
              <a:t>Sensible a la carga</a:t>
            </a:r>
            <a:endParaRPr lang="en-US" sz="1400" dirty="0"/>
          </a:p>
        </p:txBody>
      </p:sp>
      <p:sp>
        <p:nvSpPr>
          <p:cNvPr id="16" name="Shape 14"/>
          <p:cNvSpPr/>
          <p:nvPr/>
        </p:nvSpPr>
        <p:spPr>
          <a:xfrm>
            <a:off x="8890000" y="2757587"/>
            <a:ext cx="2489200" cy="1801316"/>
          </a:xfrm>
          <a:prstGeom prst="roundRect">
            <a:avLst>
              <a:gd name="adj" fmla="val 5640"/>
            </a:avLst>
          </a:prstGeom>
          <a:solidFill>
            <a:srgbClr val="12263D"/>
          </a:solidFill>
          <a:ln/>
        </p:spPr>
      </p:sp>
      <p:sp>
        <p:nvSpPr>
          <p:cNvPr id="17" name="Text 15"/>
          <p:cNvSpPr/>
          <p:nvPr/>
        </p:nvSpPr>
        <p:spPr>
          <a:xfrm>
            <a:off x="9105900" y="3011587"/>
            <a:ext cx="2119122" cy="412055"/>
          </a:xfrm>
          <a:prstGeom prst="rect">
            <a:avLst/>
          </a:prstGeom>
          <a:noFill/>
          <a:ln/>
        </p:spPr>
        <p:txBody>
          <a:bodyPr wrap="square" lIns="0" tIns="0" rIns="0" bIns="0" rtlCol="0" anchor="t">
            <a:normAutofit/>
          </a:bodyPr>
          <a:lstStyle/>
          <a:p>
            <a:pPr algn="l" indent="0" marL="0">
              <a:lnSpc>
                <a:spcPts val="3045"/>
              </a:lnSpc>
              <a:buNone/>
            </a:pPr>
            <a:r>
              <a:rPr lang="en-US" sz="2900" b="1" dirty="0">
                <a:solidFill>
                  <a:srgbClr val="4DA6E8"/>
                </a:solidFill>
                <a:latin typeface="Arial" pitchFamily="34" charset="0"/>
                <a:ea typeface="Arial" pitchFamily="34" charset="-122"/>
                <a:cs typeface="Arial" pitchFamily="34" charset="-120"/>
              </a:rPr>
              <a:t>IA</a:t>
            </a:r>
            <a:endParaRPr lang="en-US" sz="2900" dirty="0"/>
          </a:p>
        </p:txBody>
      </p:sp>
      <p:sp>
        <p:nvSpPr>
          <p:cNvPr id="18" name="Text 16"/>
          <p:cNvSpPr/>
          <p:nvPr/>
        </p:nvSpPr>
        <p:spPr>
          <a:xfrm>
            <a:off x="9105900" y="3487142"/>
            <a:ext cx="21191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6FA"/>
                </a:solidFill>
                <a:latin typeface="Arial" pitchFamily="34" charset="0"/>
                <a:ea typeface="Arial" pitchFamily="34" charset="-122"/>
                <a:cs typeface="Arial" pitchFamily="34" charset="-120"/>
              </a:rPr>
              <a:t>Recomendaciones</a:t>
            </a:r>
            <a:endParaRPr lang="en-US" sz="1500" dirty="0"/>
          </a:p>
        </p:txBody>
      </p:sp>
      <p:sp>
        <p:nvSpPr>
          <p:cNvPr id="19" name="Text 17"/>
          <p:cNvSpPr/>
          <p:nvPr/>
        </p:nvSpPr>
        <p:spPr>
          <a:xfrm>
            <a:off x="9105900" y="3842742"/>
            <a:ext cx="211912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9FB3C8"/>
                </a:solidFill>
                <a:latin typeface="Arial" pitchFamily="34" charset="0"/>
                <a:ea typeface="Arial" pitchFamily="34" charset="-122"/>
                <a:cs typeface="Arial" pitchFamily="34" charset="-120"/>
              </a:rPr>
              <a:t>Sin bloquear la transacción</a:t>
            </a:r>
            <a:endParaRPr lang="en-US" sz="1400" dirty="0"/>
          </a:p>
        </p:txBody>
      </p:sp>
      <p:sp>
        <p:nvSpPr>
          <p:cNvPr id="20" name="Shape 18"/>
          <p:cNvSpPr/>
          <p:nvPr/>
        </p:nvSpPr>
        <p:spPr>
          <a:xfrm>
            <a:off x="838200" y="5359400"/>
            <a:ext cx="0" cy="685800"/>
          </a:xfrm>
          <a:prstGeom prst="line">
            <a:avLst/>
          </a:prstGeom>
          <a:noFill/>
          <a:ln w="50800">
            <a:solidFill>
              <a:srgbClr val="34D399"/>
            </a:solidFill>
            <a:prstDash val="solid"/>
          </a:ln>
        </p:spPr>
      </p:sp>
      <p:sp>
        <p:nvSpPr>
          <p:cNvPr id="21" name="Text 19"/>
          <p:cNvSpPr/>
          <p:nvPr/>
        </p:nvSpPr>
        <p:spPr>
          <a:xfrm>
            <a:off x="1117600" y="5359400"/>
            <a:ext cx="9679940" cy="7112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2F6FA"/>
                </a:solidFill>
                <a:latin typeface="Arial" pitchFamily="34" charset="0"/>
                <a:ea typeface="Arial" pitchFamily="34" charset="-122"/>
                <a:cs typeface="Arial" pitchFamily="34" charset="-120"/>
              </a:rPr>
              <a:t>El objetivo del MVP fue demostrar consistencia, concurrencia, desacoplamiento y observabilidad.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812800" y="812800"/>
            <a:ext cx="10883392"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2F6FA"/>
                </a:solidFill>
                <a:latin typeface="Arial" pitchFamily="34" charset="0"/>
                <a:ea typeface="Arial" pitchFamily="34" charset="-122"/>
                <a:cs typeface="Arial" pitchFamily="34" charset="-120"/>
              </a:rPr>
              <a:t>Arquitectura de la solución</a:t>
            </a:r>
            <a:endParaRPr lang="en-US" sz="2600" dirty="0"/>
          </a:p>
        </p:txBody>
      </p:sp>
      <p:sp>
        <p:nvSpPr>
          <p:cNvPr id="3" name="Text 1"/>
          <p:cNvSpPr/>
          <p:nvPr/>
        </p:nvSpPr>
        <p:spPr>
          <a:xfrm>
            <a:off x="812800" y="1252141"/>
            <a:ext cx="1088339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5FE3B4"/>
                </a:solidFill>
                <a:latin typeface="Arial" pitchFamily="34" charset="0"/>
                <a:ea typeface="Arial" pitchFamily="34" charset="-122"/>
                <a:cs typeface="Arial" pitchFamily="34" charset="-120"/>
              </a:rPr>
              <a:t>La transferencia se confirma primero. Bancs y la IA se procesan después.</a:t>
            </a:r>
            <a:endParaRPr lang="en-US" sz="1800" dirty="0"/>
          </a:p>
        </p:txBody>
      </p:sp>
      <p:sp>
        <p:nvSpPr>
          <p:cNvPr id="4" name="Text 2"/>
          <p:cNvSpPr/>
          <p:nvPr/>
        </p:nvSpPr>
        <p:spPr>
          <a:xfrm>
            <a:off x="812800" y="1816100"/>
            <a:ext cx="4578350"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4DA6E8"/>
                </a:solidFill>
                <a:latin typeface="Courier New" pitchFamily="34" charset="0"/>
                <a:ea typeface="Courier New" pitchFamily="34" charset="-122"/>
                <a:cs typeface="Courier New" pitchFamily="34" charset="-120"/>
              </a:rPr>
              <a:t>CAMINO PRINCIPAL</a:t>
            </a:r>
            <a:endParaRPr lang="en-US" sz="1300" dirty="0"/>
          </a:p>
        </p:txBody>
      </p:sp>
      <p:sp>
        <p:nvSpPr>
          <p:cNvPr id="5" name="Shape 3"/>
          <p:cNvSpPr/>
          <p:nvPr/>
        </p:nvSpPr>
        <p:spPr>
          <a:xfrm>
            <a:off x="819150" y="2114550"/>
            <a:ext cx="1511300" cy="1117600"/>
          </a:xfrm>
          <a:prstGeom prst="roundRect">
            <a:avLst>
              <a:gd name="adj" fmla="val 8523"/>
            </a:avLst>
          </a:prstGeom>
          <a:solidFill>
            <a:srgbClr val="12263D"/>
          </a:solidFill>
          <a:ln w="12700">
            <a:solidFill>
              <a:srgbClr val="4DA6E8"/>
            </a:solidFill>
            <a:prstDash val="solid"/>
          </a:ln>
        </p:spPr>
      </p:sp>
      <p:sp>
        <p:nvSpPr>
          <p:cNvPr id="6" name="Text 4"/>
          <p:cNvSpPr/>
          <p:nvPr/>
        </p:nvSpPr>
        <p:spPr>
          <a:xfrm>
            <a:off x="977900" y="2543770"/>
            <a:ext cx="12446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6FA"/>
                </a:solidFill>
                <a:latin typeface="Arial" pitchFamily="34" charset="0"/>
                <a:ea typeface="Arial" pitchFamily="34" charset="-122"/>
                <a:cs typeface="Arial" pitchFamily="34" charset="-120"/>
              </a:rPr>
              <a:t>Cliente</a:t>
            </a:r>
            <a:endParaRPr lang="en-US" sz="1700" dirty="0"/>
          </a:p>
        </p:txBody>
      </p:sp>
      <p:sp>
        <p:nvSpPr>
          <p:cNvPr id="7" name="Shape 5"/>
          <p:cNvSpPr/>
          <p:nvPr/>
        </p:nvSpPr>
        <p:spPr>
          <a:xfrm>
            <a:off x="2800350" y="2114550"/>
            <a:ext cx="2019300" cy="1117600"/>
          </a:xfrm>
          <a:prstGeom prst="roundRect">
            <a:avLst>
              <a:gd name="adj" fmla="val 8523"/>
            </a:avLst>
          </a:prstGeom>
          <a:solidFill>
            <a:srgbClr val="12263D"/>
          </a:solidFill>
          <a:ln w="12700">
            <a:solidFill>
              <a:srgbClr val="4DA6E8"/>
            </a:solidFill>
            <a:prstDash val="solid"/>
          </a:ln>
        </p:spPr>
      </p:sp>
      <p:sp>
        <p:nvSpPr>
          <p:cNvPr id="8" name="Text 6"/>
          <p:cNvSpPr/>
          <p:nvPr/>
        </p:nvSpPr>
        <p:spPr>
          <a:xfrm>
            <a:off x="2959100" y="2393950"/>
            <a:ext cx="175285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6FA"/>
                </a:solidFill>
                <a:latin typeface="Arial" pitchFamily="34" charset="0"/>
                <a:ea typeface="Arial" pitchFamily="34" charset="-122"/>
                <a:cs typeface="Arial" pitchFamily="34" charset="-120"/>
              </a:rPr>
              <a:t>Transaction API</a:t>
            </a:r>
            <a:endParaRPr lang="en-US" sz="1700" dirty="0"/>
          </a:p>
        </p:txBody>
      </p:sp>
      <p:sp>
        <p:nvSpPr>
          <p:cNvPr id="9" name="Text 7"/>
          <p:cNvSpPr/>
          <p:nvPr/>
        </p:nvSpPr>
        <p:spPr>
          <a:xfrm>
            <a:off x="2959100" y="2703810"/>
            <a:ext cx="175285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3C8"/>
                </a:solidFill>
                <a:latin typeface="Arial" pitchFamily="34" charset="0"/>
                <a:ea typeface="Arial" pitchFamily="34" charset="-122"/>
                <a:cs typeface="Arial" pitchFamily="34" charset="-120"/>
              </a:rPr>
              <a:t>FastAPI</a:t>
            </a:r>
            <a:endParaRPr lang="en-US" sz="1400" dirty="0"/>
          </a:p>
        </p:txBody>
      </p:sp>
      <p:sp>
        <p:nvSpPr>
          <p:cNvPr id="10" name="Shape 8"/>
          <p:cNvSpPr/>
          <p:nvPr/>
        </p:nvSpPr>
        <p:spPr>
          <a:xfrm>
            <a:off x="5340350" y="2114550"/>
            <a:ext cx="2781300" cy="1117600"/>
          </a:xfrm>
          <a:prstGeom prst="roundRect">
            <a:avLst>
              <a:gd name="adj" fmla="val 8523"/>
            </a:avLst>
          </a:prstGeom>
          <a:solidFill>
            <a:srgbClr val="12263D"/>
          </a:solidFill>
          <a:ln w="12700">
            <a:solidFill>
              <a:srgbClr val="4DA6E8"/>
            </a:solidFill>
            <a:prstDash val="solid"/>
          </a:ln>
        </p:spPr>
      </p:sp>
      <p:sp>
        <p:nvSpPr>
          <p:cNvPr id="11" name="Text 9"/>
          <p:cNvSpPr/>
          <p:nvPr/>
        </p:nvSpPr>
        <p:spPr>
          <a:xfrm>
            <a:off x="5537200" y="2400300"/>
            <a:ext cx="245922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F6FA"/>
                </a:solidFill>
                <a:latin typeface="Arial" pitchFamily="34" charset="0"/>
                <a:ea typeface="Arial" pitchFamily="34" charset="-122"/>
                <a:cs typeface="Arial" pitchFamily="34" charset="-120"/>
              </a:rPr>
              <a:t>PostgreSQL</a:t>
            </a:r>
            <a:endParaRPr lang="en-US" sz="1700" dirty="0"/>
          </a:p>
        </p:txBody>
      </p:sp>
      <p:sp>
        <p:nvSpPr>
          <p:cNvPr id="12" name="Text 10"/>
          <p:cNvSpPr/>
          <p:nvPr/>
        </p:nvSpPr>
        <p:spPr>
          <a:xfrm>
            <a:off x="5537200" y="2697460"/>
            <a:ext cx="245922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3C8"/>
                </a:solidFill>
                <a:latin typeface="Arial" pitchFamily="34" charset="0"/>
                <a:ea typeface="Arial" pitchFamily="34" charset="-122"/>
                <a:cs typeface="Arial" pitchFamily="34" charset="-120"/>
              </a:rPr>
              <a:t>Saldos · Ledger · Outbox</a:t>
            </a:r>
            <a:endParaRPr lang="en-US" sz="1400" dirty="0"/>
          </a:p>
        </p:txBody>
      </p:sp>
      <p:sp>
        <p:nvSpPr>
          <p:cNvPr id="13" name="Shape 11"/>
          <p:cNvSpPr/>
          <p:nvPr/>
        </p:nvSpPr>
        <p:spPr>
          <a:xfrm>
            <a:off x="8705850" y="2114550"/>
            <a:ext cx="1892300" cy="1117600"/>
          </a:xfrm>
          <a:prstGeom prst="roundRect">
            <a:avLst>
              <a:gd name="adj" fmla="val 8523"/>
            </a:avLst>
          </a:prstGeom>
          <a:solidFill>
            <a:srgbClr val="12263D"/>
          </a:solidFill>
          <a:ln w="12700">
            <a:solidFill>
              <a:srgbClr val="34D399"/>
            </a:solidFill>
            <a:prstDash val="solid"/>
          </a:ln>
        </p:spPr>
      </p:sp>
      <p:sp>
        <p:nvSpPr>
          <p:cNvPr id="14" name="Text 12"/>
          <p:cNvSpPr/>
          <p:nvPr/>
        </p:nvSpPr>
        <p:spPr>
          <a:xfrm>
            <a:off x="8864600" y="2393950"/>
            <a:ext cx="16256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E3B4"/>
                </a:solidFill>
                <a:latin typeface="Arial" pitchFamily="34" charset="0"/>
                <a:ea typeface="Arial" pitchFamily="34" charset="-122"/>
                <a:cs typeface="Arial" pitchFamily="34" charset="-120"/>
              </a:rPr>
              <a:t>Respuesta</a:t>
            </a:r>
            <a:endParaRPr lang="en-US" sz="1700" dirty="0"/>
          </a:p>
        </p:txBody>
      </p:sp>
      <p:sp>
        <p:nvSpPr>
          <p:cNvPr id="15" name="Text 13"/>
          <p:cNvSpPr/>
          <p:nvPr/>
        </p:nvSpPr>
        <p:spPr>
          <a:xfrm>
            <a:off x="8864600" y="2703810"/>
            <a:ext cx="1625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3C8"/>
                </a:solidFill>
                <a:latin typeface="Arial" pitchFamily="34" charset="0"/>
                <a:ea typeface="Arial" pitchFamily="34" charset="-122"/>
                <a:cs typeface="Arial" pitchFamily="34" charset="-120"/>
              </a:rPr>
              <a:t>&lt; 2 s</a:t>
            </a:r>
            <a:endParaRPr lang="en-US" sz="1400" dirty="0"/>
          </a:p>
        </p:txBody>
      </p:sp>
      <p:sp>
        <p:nvSpPr>
          <p:cNvPr id="16" name="Text 14"/>
          <p:cNvSpPr/>
          <p:nvPr/>
        </p:nvSpPr>
        <p:spPr>
          <a:xfrm>
            <a:off x="8102600" y="1816100"/>
            <a:ext cx="584200" cy="487561"/>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FE3B4"/>
                </a:solidFill>
                <a:latin typeface="Courier New" pitchFamily="34" charset="0"/>
                <a:ea typeface="Courier New" pitchFamily="34" charset="-122"/>
                <a:cs typeface="Courier New" pitchFamily="34" charset="-120"/>
              </a:rPr>
              <a:t>COMMIT</a:t>
            </a:r>
            <a:endParaRPr lang="en-US" sz="1300" dirty="0"/>
          </a:p>
        </p:txBody>
      </p:sp>
      <p:pic>
        <p:nvPicPr>
          <p:cNvPr id="17" name="Image 0" descr="connector">    </p:cNvPr>
          <p:cNvPicPr>
            <a:picLocks noChangeAspect="1"/>
          </p:cNvPicPr>
          <p:nvPr/>
        </p:nvPicPr>
        <p:blipFill>
          <a:blip r:embed="rId1"/>
          <a:srcRect l="0" r="0" t="0" b="0"/>
          <a:stretch/>
        </p:blipFill>
        <p:spPr>
          <a:xfrm>
            <a:off x="2273300" y="2609850"/>
            <a:ext cx="533400" cy="127000"/>
          </a:xfrm>
          <a:prstGeom prst="rect">
            <a:avLst/>
          </a:prstGeom>
        </p:spPr>
      </p:pic>
      <p:pic>
        <p:nvPicPr>
          <p:cNvPr id="18" name="Image 1" descr="connector">    </p:cNvPr>
          <p:cNvPicPr>
            <a:picLocks noChangeAspect="1"/>
          </p:cNvPicPr>
          <p:nvPr/>
        </p:nvPicPr>
        <p:blipFill>
          <a:blip r:embed="rId2"/>
          <a:srcRect l="0" r="0" t="0" b="0"/>
          <a:stretch/>
        </p:blipFill>
        <p:spPr>
          <a:xfrm>
            <a:off x="4762500" y="2609850"/>
            <a:ext cx="584200" cy="127000"/>
          </a:xfrm>
          <a:prstGeom prst="rect">
            <a:avLst/>
          </a:prstGeom>
        </p:spPr>
      </p:pic>
      <p:pic>
        <p:nvPicPr>
          <p:cNvPr id="19" name="Image 2" descr="connector">    </p:cNvPr>
          <p:cNvPicPr>
            <a:picLocks noChangeAspect="1"/>
          </p:cNvPicPr>
          <p:nvPr/>
        </p:nvPicPr>
        <p:blipFill>
          <a:blip r:embed="rId3"/>
          <a:srcRect l="0" r="0" t="0" b="0"/>
          <a:stretch/>
        </p:blipFill>
        <p:spPr>
          <a:xfrm>
            <a:off x="8064500" y="2609850"/>
            <a:ext cx="647700" cy="127000"/>
          </a:xfrm>
          <a:prstGeom prst="rect">
            <a:avLst/>
          </a:prstGeom>
        </p:spPr>
      </p:pic>
      <p:sp>
        <p:nvSpPr>
          <p:cNvPr id="20" name="Text 15"/>
          <p:cNvSpPr/>
          <p:nvPr/>
        </p:nvSpPr>
        <p:spPr>
          <a:xfrm>
            <a:off x="4445000" y="3505200"/>
            <a:ext cx="5886450"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8E7CC3"/>
                </a:solidFill>
                <a:latin typeface="Courier New" pitchFamily="34" charset="0"/>
                <a:ea typeface="Courier New" pitchFamily="34" charset="-122"/>
                <a:cs typeface="Courier New" pitchFamily="34" charset="-120"/>
              </a:rPr>
              <a:t>PROCESAMIENTO ASÍNCRONO</a:t>
            </a:r>
            <a:endParaRPr lang="en-US" sz="1300" dirty="0"/>
          </a:p>
        </p:txBody>
      </p:sp>
      <p:pic>
        <p:nvPicPr>
          <p:cNvPr id="21" name="Image 3" descr="connector">    </p:cNvPr>
          <p:cNvPicPr>
            <a:picLocks noChangeAspect="1"/>
          </p:cNvPicPr>
          <p:nvPr/>
        </p:nvPicPr>
        <p:blipFill>
          <a:blip r:embed="rId4"/>
          <a:srcRect l="0" r="0" t="0" b="0"/>
          <a:stretch/>
        </p:blipFill>
        <p:spPr>
          <a:xfrm>
            <a:off x="6667500" y="3175000"/>
            <a:ext cx="127000" cy="711200"/>
          </a:xfrm>
          <a:prstGeom prst="rect">
            <a:avLst/>
          </a:prstGeom>
        </p:spPr>
      </p:pic>
      <p:sp>
        <p:nvSpPr>
          <p:cNvPr id="22" name="Shape 16"/>
          <p:cNvSpPr/>
          <p:nvPr/>
        </p:nvSpPr>
        <p:spPr>
          <a:xfrm>
            <a:off x="5721350" y="3854450"/>
            <a:ext cx="2019300" cy="711200"/>
          </a:xfrm>
          <a:prstGeom prst="roundRect">
            <a:avLst>
              <a:gd name="adj" fmla="val 13393"/>
            </a:avLst>
          </a:prstGeom>
          <a:solidFill>
            <a:srgbClr val="151B33"/>
          </a:solidFill>
          <a:ln w="12700">
            <a:solidFill>
              <a:srgbClr val="8E7CC3"/>
            </a:solidFill>
            <a:prstDash val="solid"/>
          </a:ln>
        </p:spPr>
      </p:sp>
      <p:sp>
        <p:nvSpPr>
          <p:cNvPr id="23" name="Text 17"/>
          <p:cNvSpPr/>
          <p:nvPr/>
        </p:nvSpPr>
        <p:spPr>
          <a:xfrm>
            <a:off x="5867400" y="4088110"/>
            <a:ext cx="17790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F6FA"/>
                </a:solidFill>
                <a:latin typeface="Arial" pitchFamily="34" charset="0"/>
                <a:ea typeface="Arial" pitchFamily="34" charset="-122"/>
                <a:cs typeface="Arial" pitchFamily="34" charset="-120"/>
              </a:rPr>
              <a:t>Outbox Worker</a:t>
            </a:r>
            <a:endParaRPr lang="en-US" sz="1600" dirty="0"/>
          </a:p>
        </p:txBody>
      </p:sp>
      <p:pic>
        <p:nvPicPr>
          <p:cNvPr id="24" name="Image 4" descr="connector">    </p:cNvPr>
          <p:cNvPicPr>
            <a:picLocks noChangeAspect="1"/>
          </p:cNvPicPr>
          <p:nvPr/>
        </p:nvPicPr>
        <p:blipFill>
          <a:blip r:embed="rId5"/>
          <a:srcRect l="0" r="0" t="0" b="0"/>
          <a:stretch/>
        </p:blipFill>
        <p:spPr>
          <a:xfrm>
            <a:off x="5524500" y="4508500"/>
            <a:ext cx="1270000" cy="571500"/>
          </a:xfrm>
          <a:prstGeom prst="rect">
            <a:avLst/>
          </a:prstGeom>
        </p:spPr>
      </p:pic>
      <p:pic>
        <p:nvPicPr>
          <p:cNvPr id="25" name="Image 5" descr="connector">    </p:cNvPr>
          <p:cNvPicPr>
            <a:picLocks noChangeAspect="1"/>
          </p:cNvPicPr>
          <p:nvPr/>
        </p:nvPicPr>
        <p:blipFill>
          <a:blip r:embed="rId6"/>
          <a:srcRect l="0" r="0" t="0" b="0"/>
          <a:stretch/>
        </p:blipFill>
        <p:spPr>
          <a:xfrm>
            <a:off x="6667500" y="4508500"/>
            <a:ext cx="1270000" cy="571500"/>
          </a:xfrm>
          <a:prstGeom prst="rect">
            <a:avLst/>
          </a:prstGeom>
        </p:spPr>
      </p:pic>
      <p:sp>
        <p:nvSpPr>
          <p:cNvPr id="26" name="Shape 18"/>
          <p:cNvSpPr/>
          <p:nvPr/>
        </p:nvSpPr>
        <p:spPr>
          <a:xfrm>
            <a:off x="4641850" y="5048250"/>
            <a:ext cx="1892300" cy="736600"/>
          </a:xfrm>
          <a:prstGeom prst="roundRect">
            <a:avLst>
              <a:gd name="adj" fmla="val 12931"/>
            </a:avLst>
          </a:prstGeom>
          <a:solidFill>
            <a:srgbClr val="151B33"/>
          </a:solidFill>
          <a:ln w="12700">
            <a:solidFill>
              <a:srgbClr val="8E7CC3"/>
            </a:solidFill>
            <a:prstDash val="solid"/>
          </a:ln>
        </p:spPr>
      </p:sp>
      <p:sp>
        <p:nvSpPr>
          <p:cNvPr id="27" name="Text 19"/>
          <p:cNvSpPr/>
          <p:nvPr/>
        </p:nvSpPr>
        <p:spPr>
          <a:xfrm>
            <a:off x="4787900" y="5194300"/>
            <a:ext cx="1651000" cy="234057"/>
          </a:xfrm>
          <a:prstGeom prst="rect">
            <a:avLst/>
          </a:prstGeom>
          <a:noFill/>
          <a:ln/>
        </p:spPr>
        <p:txBody>
          <a:bodyPr wrap="square" lIns="0" tIns="0" rIns="0" bIns="0" rtlCol="0" anchor="t">
            <a:normAutofit/>
          </a:bodyPr>
          <a:lstStyle/>
          <a:p>
            <a:pPr algn="l" indent="0" marL="0">
              <a:lnSpc>
                <a:spcPts val="1674"/>
              </a:lnSpc>
              <a:buNone/>
            </a:pPr>
            <a:r>
              <a:rPr lang="en-US" sz="1395" b="1" dirty="0">
                <a:solidFill>
                  <a:srgbClr val="F2F6FA"/>
                </a:solidFill>
                <a:latin typeface="Arial" pitchFamily="34" charset="0"/>
                <a:ea typeface="Arial" pitchFamily="34" charset="-122"/>
                <a:cs typeface="Arial" pitchFamily="34" charset="-120"/>
              </a:rPr>
              <a:t>Bancs</a:t>
            </a:r>
            <a:endParaRPr lang="en-US" sz="1395" dirty="0"/>
          </a:p>
        </p:txBody>
      </p:sp>
      <p:sp>
        <p:nvSpPr>
          <p:cNvPr id="28" name="Text 20"/>
          <p:cNvSpPr/>
          <p:nvPr/>
        </p:nvSpPr>
        <p:spPr>
          <a:xfrm>
            <a:off x="4787900" y="5441057"/>
            <a:ext cx="1651000" cy="223143"/>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9FB3C8"/>
                </a:solidFill>
                <a:latin typeface="Arial" pitchFamily="34" charset="0"/>
                <a:ea typeface="Arial" pitchFamily="34" charset="-122"/>
                <a:cs typeface="Arial" pitchFamily="34" charset="-120"/>
              </a:rPr>
              <a:t>por lotes</a:t>
            </a:r>
            <a:endParaRPr lang="en-US" sz="1121" dirty="0"/>
          </a:p>
        </p:txBody>
      </p:sp>
      <p:sp>
        <p:nvSpPr>
          <p:cNvPr id="29" name="Shape 21"/>
          <p:cNvSpPr/>
          <p:nvPr/>
        </p:nvSpPr>
        <p:spPr>
          <a:xfrm>
            <a:off x="6927850" y="5048250"/>
            <a:ext cx="1892300" cy="736600"/>
          </a:xfrm>
          <a:prstGeom prst="roundRect">
            <a:avLst>
              <a:gd name="adj" fmla="val 12931"/>
            </a:avLst>
          </a:prstGeom>
          <a:solidFill>
            <a:srgbClr val="151B33"/>
          </a:solidFill>
          <a:ln w="12700">
            <a:solidFill>
              <a:srgbClr val="8E7CC3"/>
            </a:solidFill>
            <a:prstDash val="solid"/>
          </a:ln>
        </p:spPr>
      </p:sp>
      <p:sp>
        <p:nvSpPr>
          <p:cNvPr id="30" name="Text 22"/>
          <p:cNvSpPr/>
          <p:nvPr/>
        </p:nvSpPr>
        <p:spPr>
          <a:xfrm>
            <a:off x="7073900" y="5194300"/>
            <a:ext cx="1651000" cy="234057"/>
          </a:xfrm>
          <a:prstGeom prst="rect">
            <a:avLst/>
          </a:prstGeom>
          <a:noFill/>
          <a:ln/>
        </p:spPr>
        <p:txBody>
          <a:bodyPr wrap="square" lIns="0" tIns="0" rIns="0" bIns="0" rtlCol="0" anchor="t">
            <a:normAutofit/>
          </a:bodyPr>
          <a:lstStyle/>
          <a:p>
            <a:pPr algn="l" indent="0" marL="0">
              <a:lnSpc>
                <a:spcPts val="1674"/>
              </a:lnSpc>
              <a:buNone/>
            </a:pPr>
            <a:r>
              <a:rPr lang="en-US" sz="1395" b="1" dirty="0">
                <a:solidFill>
                  <a:srgbClr val="F2F6FA"/>
                </a:solidFill>
                <a:latin typeface="Arial" pitchFamily="34" charset="0"/>
                <a:ea typeface="Arial" pitchFamily="34" charset="-122"/>
                <a:cs typeface="Arial" pitchFamily="34" charset="-120"/>
              </a:rPr>
              <a:t>Servicio de IA</a:t>
            </a:r>
            <a:endParaRPr lang="en-US" sz="1395" dirty="0"/>
          </a:p>
        </p:txBody>
      </p:sp>
      <p:sp>
        <p:nvSpPr>
          <p:cNvPr id="31" name="Text 23"/>
          <p:cNvSpPr/>
          <p:nvPr/>
        </p:nvSpPr>
        <p:spPr>
          <a:xfrm>
            <a:off x="7073900" y="5441057"/>
            <a:ext cx="1651000" cy="223143"/>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9FB3C8"/>
                </a:solidFill>
                <a:latin typeface="Arial" pitchFamily="34" charset="0"/>
                <a:ea typeface="Arial" pitchFamily="34" charset="-122"/>
                <a:cs typeface="Arial" pitchFamily="34" charset="-120"/>
              </a:rPr>
              <a:t>asíncrono</a:t>
            </a:r>
            <a:endParaRPr lang="en-US" sz="1121" dirty="0"/>
          </a:p>
        </p:txBody>
      </p:sp>
      <p:sp>
        <p:nvSpPr>
          <p:cNvPr id="32" name="Text 24"/>
          <p:cNvSpPr/>
          <p:nvPr/>
        </p:nvSpPr>
        <p:spPr>
          <a:xfrm>
            <a:off x="812800" y="5308600"/>
            <a:ext cx="3401060"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7A93AB"/>
                </a:solidFill>
                <a:latin typeface="Courier New" pitchFamily="34" charset="0"/>
                <a:ea typeface="Courier New" pitchFamily="34" charset="-122"/>
                <a:cs typeface="Courier New" pitchFamily="34" charset="-120"/>
              </a:rPr>
              <a:t>Logs · Métricas · Trace ID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137"/>
        </a:solidFill>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2F6FA"/>
                </a:solidFill>
                <a:latin typeface="Arial" pitchFamily="34" charset="0"/>
                <a:ea typeface="Arial" pitchFamily="34" charset="-122"/>
                <a:cs typeface="Arial" pitchFamily="34" charset="-120"/>
              </a:rPr>
              <a:t>De la arquitectura a la implementación</a:t>
            </a:r>
            <a:endParaRPr lang="en-US" sz="2800" dirty="0"/>
          </a:p>
        </p:txBody>
      </p:sp>
      <p:sp>
        <p:nvSpPr>
          <p:cNvPr id="3" name="Text 1"/>
          <p:cNvSpPr/>
          <p:nvPr/>
        </p:nvSpPr>
        <p:spPr>
          <a:xfrm>
            <a:off x="812800" y="1483320"/>
            <a:ext cx="20929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4DA6E8"/>
                </a:solidFill>
                <a:latin typeface="Arial" pitchFamily="34" charset="0"/>
                <a:ea typeface="Arial" pitchFamily="34" charset="-122"/>
                <a:cs typeface="Arial" pitchFamily="34" charset="-120"/>
              </a:rPr>
              <a:t>FastAPI</a:t>
            </a:r>
            <a:endParaRPr lang="en-US" sz="1700" dirty="0"/>
          </a:p>
        </p:txBody>
      </p:sp>
      <p:sp>
        <p:nvSpPr>
          <p:cNvPr id="4" name="Text 2"/>
          <p:cNvSpPr/>
          <p:nvPr/>
        </p:nvSpPr>
        <p:spPr>
          <a:xfrm>
            <a:off x="3022600" y="1508720"/>
            <a:ext cx="29824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6FA"/>
                </a:solidFill>
                <a:latin typeface="Arial" pitchFamily="34" charset="0"/>
                <a:ea typeface="Arial" pitchFamily="34" charset="-122"/>
                <a:cs typeface="Arial" pitchFamily="34" charset="-120"/>
              </a:rPr>
              <a:t>API transaccional</a:t>
            </a:r>
            <a:endParaRPr lang="en-US" sz="1500" dirty="0"/>
          </a:p>
        </p:txBody>
      </p:sp>
      <p:pic>
        <p:nvPicPr>
          <p:cNvPr id="5" name="Image 0" descr="line">    </p:cNvPr>
          <p:cNvPicPr>
            <a:picLocks noChangeAspect="1"/>
          </p:cNvPicPr>
          <p:nvPr/>
        </p:nvPicPr>
        <p:blipFill>
          <a:blip r:embed="rId1"/>
          <a:srcRect l="0" r="0" t="0" b="0"/>
          <a:stretch/>
        </p:blipFill>
        <p:spPr>
          <a:xfrm>
            <a:off x="812800" y="1925241"/>
            <a:ext cx="5105400" cy="12700"/>
          </a:xfrm>
          <a:prstGeom prst="rect">
            <a:avLst/>
          </a:prstGeom>
        </p:spPr>
      </p:pic>
      <p:sp>
        <p:nvSpPr>
          <p:cNvPr id="6" name="Text 3"/>
          <p:cNvSpPr/>
          <p:nvPr/>
        </p:nvSpPr>
        <p:spPr>
          <a:xfrm>
            <a:off x="812800" y="2077641"/>
            <a:ext cx="20929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4DA6E8"/>
                </a:solidFill>
                <a:latin typeface="Arial" pitchFamily="34" charset="0"/>
                <a:ea typeface="Arial" pitchFamily="34" charset="-122"/>
                <a:cs typeface="Arial" pitchFamily="34" charset="-120"/>
              </a:rPr>
              <a:t>PostgreSQL</a:t>
            </a:r>
            <a:endParaRPr lang="en-US" sz="1700" dirty="0"/>
          </a:p>
        </p:txBody>
      </p:sp>
      <p:sp>
        <p:nvSpPr>
          <p:cNvPr id="7" name="Text 4"/>
          <p:cNvSpPr/>
          <p:nvPr/>
        </p:nvSpPr>
        <p:spPr>
          <a:xfrm>
            <a:off x="3022600" y="2103041"/>
            <a:ext cx="29824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6FA"/>
                </a:solidFill>
                <a:latin typeface="Arial" pitchFamily="34" charset="0"/>
                <a:ea typeface="Arial" pitchFamily="34" charset="-122"/>
                <a:cs typeface="Arial" pitchFamily="34" charset="-120"/>
              </a:rPr>
              <a:t>Saldos, ledger y control de concurrencia</a:t>
            </a:r>
            <a:endParaRPr lang="en-US" sz="1500" dirty="0"/>
          </a:p>
        </p:txBody>
      </p:sp>
      <p:pic>
        <p:nvPicPr>
          <p:cNvPr id="8" name="Image 1" descr="line">    </p:cNvPr>
          <p:cNvPicPr>
            <a:picLocks noChangeAspect="1"/>
          </p:cNvPicPr>
          <p:nvPr/>
        </p:nvPicPr>
        <p:blipFill>
          <a:blip r:embed="rId2"/>
          <a:srcRect l="0" r="0" t="0" b="0"/>
          <a:stretch/>
        </p:blipFill>
        <p:spPr>
          <a:xfrm>
            <a:off x="812800" y="2776141"/>
            <a:ext cx="5105400" cy="12700"/>
          </a:xfrm>
          <a:prstGeom prst="rect">
            <a:avLst/>
          </a:prstGeom>
        </p:spPr>
      </p:pic>
      <p:sp>
        <p:nvSpPr>
          <p:cNvPr id="9" name="Text 5"/>
          <p:cNvSpPr/>
          <p:nvPr/>
        </p:nvSpPr>
        <p:spPr>
          <a:xfrm>
            <a:off x="812800" y="2928541"/>
            <a:ext cx="20929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8E7CC3"/>
                </a:solidFill>
                <a:latin typeface="Arial" pitchFamily="34" charset="0"/>
                <a:ea typeface="Arial" pitchFamily="34" charset="-122"/>
                <a:cs typeface="Arial" pitchFamily="34" charset="-120"/>
              </a:rPr>
              <a:t>Outbox · Worker</a:t>
            </a:r>
            <a:endParaRPr lang="en-US" sz="1700" dirty="0"/>
          </a:p>
        </p:txBody>
      </p:sp>
      <p:sp>
        <p:nvSpPr>
          <p:cNvPr id="10" name="Text 6"/>
          <p:cNvSpPr/>
          <p:nvPr/>
        </p:nvSpPr>
        <p:spPr>
          <a:xfrm>
            <a:off x="3022600" y="2953941"/>
            <a:ext cx="29824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6FA"/>
                </a:solidFill>
                <a:latin typeface="Arial" pitchFamily="34" charset="0"/>
                <a:ea typeface="Arial" pitchFamily="34" charset="-122"/>
                <a:cs typeface="Arial" pitchFamily="34" charset="-120"/>
              </a:rPr>
              <a:t>Procesamiento asíncrono</a:t>
            </a:r>
            <a:endParaRPr lang="en-US" sz="1500" dirty="0"/>
          </a:p>
        </p:txBody>
      </p:sp>
      <p:pic>
        <p:nvPicPr>
          <p:cNvPr id="11" name="Image 2" descr="line">    </p:cNvPr>
          <p:cNvPicPr>
            <a:picLocks noChangeAspect="1"/>
          </p:cNvPicPr>
          <p:nvPr/>
        </p:nvPicPr>
        <p:blipFill>
          <a:blip r:embed="rId3"/>
          <a:srcRect l="0" r="0" t="0" b="0"/>
          <a:stretch/>
        </p:blipFill>
        <p:spPr>
          <a:xfrm>
            <a:off x="812800" y="3370461"/>
            <a:ext cx="5105400" cy="12700"/>
          </a:xfrm>
          <a:prstGeom prst="rect">
            <a:avLst/>
          </a:prstGeom>
        </p:spPr>
      </p:pic>
      <p:sp>
        <p:nvSpPr>
          <p:cNvPr id="12" name="Text 7"/>
          <p:cNvSpPr/>
          <p:nvPr/>
        </p:nvSpPr>
        <p:spPr>
          <a:xfrm>
            <a:off x="812800" y="3522861"/>
            <a:ext cx="20929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4DA6E8"/>
                </a:solidFill>
                <a:latin typeface="Arial" pitchFamily="34" charset="0"/>
                <a:ea typeface="Arial" pitchFamily="34" charset="-122"/>
                <a:cs typeface="Arial" pitchFamily="34" charset="-120"/>
              </a:rPr>
              <a:t>Prometheus · logs</a:t>
            </a:r>
            <a:endParaRPr lang="en-US" sz="1700" dirty="0"/>
          </a:p>
        </p:txBody>
      </p:sp>
      <p:sp>
        <p:nvSpPr>
          <p:cNvPr id="13" name="Text 8"/>
          <p:cNvSpPr/>
          <p:nvPr/>
        </p:nvSpPr>
        <p:spPr>
          <a:xfrm>
            <a:off x="3022600" y="3548261"/>
            <a:ext cx="29824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6FA"/>
                </a:solidFill>
                <a:latin typeface="Arial" pitchFamily="34" charset="0"/>
                <a:ea typeface="Arial" pitchFamily="34" charset="-122"/>
                <a:cs typeface="Arial" pitchFamily="34" charset="-120"/>
              </a:rPr>
              <a:t>Observabilidad</a:t>
            </a:r>
            <a:endParaRPr lang="en-US" sz="1500" dirty="0"/>
          </a:p>
        </p:txBody>
      </p:sp>
      <p:pic>
        <p:nvPicPr>
          <p:cNvPr id="14" name="Image 3" descr="line">    </p:cNvPr>
          <p:cNvPicPr>
            <a:picLocks noChangeAspect="1"/>
          </p:cNvPicPr>
          <p:nvPr/>
        </p:nvPicPr>
        <p:blipFill>
          <a:blip r:embed="rId4"/>
          <a:srcRect l="0" r="0" t="0" b="0"/>
          <a:stretch/>
        </p:blipFill>
        <p:spPr>
          <a:xfrm>
            <a:off x="812800" y="3964781"/>
            <a:ext cx="5105400" cy="12700"/>
          </a:xfrm>
          <a:prstGeom prst="rect">
            <a:avLst/>
          </a:prstGeom>
        </p:spPr>
      </p:pic>
      <p:sp>
        <p:nvSpPr>
          <p:cNvPr id="15" name="Text 9"/>
          <p:cNvSpPr/>
          <p:nvPr/>
        </p:nvSpPr>
        <p:spPr>
          <a:xfrm>
            <a:off x="812800" y="4117181"/>
            <a:ext cx="20929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4DA6E8"/>
                </a:solidFill>
                <a:latin typeface="Arial" pitchFamily="34" charset="0"/>
                <a:ea typeface="Arial" pitchFamily="34" charset="-122"/>
                <a:cs typeface="Arial" pitchFamily="34" charset="-120"/>
              </a:rPr>
              <a:t>Docker Compose</a:t>
            </a:r>
            <a:endParaRPr lang="en-US" sz="1700" dirty="0"/>
          </a:p>
        </p:txBody>
      </p:sp>
      <p:sp>
        <p:nvSpPr>
          <p:cNvPr id="16" name="Text 10"/>
          <p:cNvSpPr/>
          <p:nvPr/>
        </p:nvSpPr>
        <p:spPr>
          <a:xfrm>
            <a:off x="3022600" y="4142581"/>
            <a:ext cx="29824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6FA"/>
                </a:solidFill>
                <a:latin typeface="Arial" pitchFamily="34" charset="0"/>
                <a:ea typeface="Arial" pitchFamily="34" charset="-122"/>
                <a:cs typeface="Arial" pitchFamily="34" charset="-120"/>
              </a:rPr>
              <a:t>Entorno reproducible con un comando</a:t>
            </a:r>
            <a:endParaRPr lang="en-US" sz="1500" dirty="0"/>
          </a:p>
        </p:txBody>
      </p:sp>
      <p:sp>
        <p:nvSpPr>
          <p:cNvPr id="17" name="Shape 11"/>
          <p:cNvSpPr/>
          <p:nvPr/>
        </p:nvSpPr>
        <p:spPr>
          <a:xfrm>
            <a:off x="6273800" y="1483320"/>
            <a:ext cx="5105400" cy="1368921"/>
          </a:xfrm>
          <a:prstGeom prst="roundRect">
            <a:avLst>
              <a:gd name="adj" fmla="val 6494"/>
            </a:avLst>
          </a:prstGeom>
          <a:solidFill>
            <a:srgbClr val="0A1628"/>
          </a:solidFill>
          <a:ln/>
        </p:spPr>
      </p:sp>
      <p:sp>
        <p:nvSpPr>
          <p:cNvPr id="18" name="Shape 12"/>
          <p:cNvSpPr/>
          <p:nvPr/>
        </p:nvSpPr>
        <p:spPr>
          <a:xfrm>
            <a:off x="6292850" y="1483320"/>
            <a:ext cx="0" cy="1368921"/>
          </a:xfrm>
          <a:prstGeom prst="line">
            <a:avLst/>
          </a:prstGeom>
          <a:noFill/>
          <a:ln w="38100">
            <a:solidFill>
              <a:srgbClr val="4DA6E8"/>
            </a:solidFill>
            <a:prstDash val="solid"/>
          </a:ln>
        </p:spPr>
      </p:sp>
      <p:sp>
        <p:nvSpPr>
          <p:cNvPr id="19" name="Text 13"/>
          <p:cNvSpPr/>
          <p:nvPr/>
        </p:nvSpPr>
        <p:spPr>
          <a:xfrm>
            <a:off x="6527800" y="1673820"/>
            <a:ext cx="4774565"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4DA6E8"/>
                </a:solidFill>
                <a:latin typeface="Courier New" pitchFamily="34" charset="0"/>
                <a:ea typeface="Courier New" pitchFamily="34" charset="-122"/>
                <a:cs typeface="Courier New" pitchFamily="34" charset="-120"/>
              </a:rPr>
              <a:t>CONCURRENCIA</a:t>
            </a:r>
            <a:endParaRPr lang="en-US" sz="1300" dirty="0"/>
          </a:p>
        </p:txBody>
      </p:sp>
      <p:sp>
        <p:nvSpPr>
          <p:cNvPr id="20" name="Text 14"/>
          <p:cNvSpPr/>
          <p:nvPr/>
        </p:nvSpPr>
        <p:spPr>
          <a:xfrm>
            <a:off x="6527800" y="1981101"/>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SELECT … FOR UPDATE</a:t>
            </a:r>
            <a:endParaRPr lang="en-US" sz="1700" dirty="0"/>
          </a:p>
        </p:txBody>
      </p:sp>
      <p:sp>
        <p:nvSpPr>
          <p:cNvPr id="21" name="Text 15"/>
          <p:cNvSpPr/>
          <p:nvPr/>
        </p:nvSpPr>
        <p:spPr>
          <a:xfrm>
            <a:off x="6527800" y="2359521"/>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Orden determinista</a:t>
            </a:r>
            <a:endParaRPr lang="en-US" sz="1700" dirty="0"/>
          </a:p>
        </p:txBody>
      </p:sp>
      <p:sp>
        <p:nvSpPr>
          <p:cNvPr id="22" name="Shape 16"/>
          <p:cNvSpPr/>
          <p:nvPr/>
        </p:nvSpPr>
        <p:spPr>
          <a:xfrm>
            <a:off x="6273800" y="2991941"/>
            <a:ext cx="5105400" cy="990501"/>
          </a:xfrm>
          <a:prstGeom prst="roundRect">
            <a:avLst>
              <a:gd name="adj" fmla="val 8975"/>
            </a:avLst>
          </a:prstGeom>
          <a:solidFill>
            <a:srgbClr val="0A1628"/>
          </a:solidFill>
          <a:ln/>
        </p:spPr>
      </p:sp>
      <p:sp>
        <p:nvSpPr>
          <p:cNvPr id="23" name="Shape 17"/>
          <p:cNvSpPr/>
          <p:nvPr/>
        </p:nvSpPr>
        <p:spPr>
          <a:xfrm>
            <a:off x="6292850" y="2991941"/>
            <a:ext cx="0" cy="990501"/>
          </a:xfrm>
          <a:prstGeom prst="line">
            <a:avLst/>
          </a:prstGeom>
          <a:noFill/>
          <a:ln w="38100">
            <a:solidFill>
              <a:srgbClr val="8E7CC3"/>
            </a:solidFill>
            <a:prstDash val="solid"/>
          </a:ln>
        </p:spPr>
      </p:sp>
      <p:sp>
        <p:nvSpPr>
          <p:cNvPr id="24" name="Text 18"/>
          <p:cNvSpPr/>
          <p:nvPr/>
        </p:nvSpPr>
        <p:spPr>
          <a:xfrm>
            <a:off x="6527800" y="3182441"/>
            <a:ext cx="4774565"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8E7CC3"/>
                </a:solidFill>
                <a:latin typeface="Courier New" pitchFamily="34" charset="0"/>
                <a:ea typeface="Courier New" pitchFamily="34" charset="-122"/>
                <a:cs typeface="Courier New" pitchFamily="34" charset="-120"/>
              </a:rPr>
              <a:t>BANCS</a:t>
            </a:r>
            <a:endParaRPr lang="en-US" sz="1300" dirty="0"/>
          </a:p>
        </p:txBody>
      </p:sp>
      <p:sp>
        <p:nvSpPr>
          <p:cNvPr id="25" name="Text 19"/>
          <p:cNvSpPr/>
          <p:nvPr/>
        </p:nvSpPr>
        <p:spPr>
          <a:xfrm>
            <a:off x="6527800" y="3489722"/>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Sincronización por lotes</a:t>
            </a:r>
            <a:endParaRPr lang="en-US" sz="1700" dirty="0"/>
          </a:p>
        </p:txBody>
      </p:sp>
      <p:sp>
        <p:nvSpPr>
          <p:cNvPr id="26" name="Shape 20"/>
          <p:cNvSpPr/>
          <p:nvPr/>
        </p:nvSpPr>
        <p:spPr>
          <a:xfrm>
            <a:off x="6273800" y="4122142"/>
            <a:ext cx="5105400" cy="1368921"/>
          </a:xfrm>
          <a:prstGeom prst="roundRect">
            <a:avLst>
              <a:gd name="adj" fmla="val 6494"/>
            </a:avLst>
          </a:prstGeom>
          <a:solidFill>
            <a:srgbClr val="0A1628"/>
          </a:solidFill>
          <a:ln/>
        </p:spPr>
      </p:sp>
      <p:sp>
        <p:nvSpPr>
          <p:cNvPr id="27" name="Shape 21"/>
          <p:cNvSpPr/>
          <p:nvPr/>
        </p:nvSpPr>
        <p:spPr>
          <a:xfrm>
            <a:off x="6292850" y="4122142"/>
            <a:ext cx="0" cy="1368921"/>
          </a:xfrm>
          <a:prstGeom prst="line">
            <a:avLst/>
          </a:prstGeom>
          <a:noFill/>
          <a:ln w="38100">
            <a:solidFill>
              <a:srgbClr val="8E7CC3"/>
            </a:solidFill>
            <a:prstDash val="solid"/>
          </a:ln>
        </p:spPr>
      </p:sp>
      <p:sp>
        <p:nvSpPr>
          <p:cNvPr id="28" name="Text 22"/>
          <p:cNvSpPr/>
          <p:nvPr/>
        </p:nvSpPr>
        <p:spPr>
          <a:xfrm>
            <a:off x="6527800" y="4312642"/>
            <a:ext cx="4774565"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8E7CC3"/>
                </a:solidFill>
                <a:latin typeface="Courier New" pitchFamily="34" charset="0"/>
                <a:ea typeface="Courier New" pitchFamily="34" charset="-122"/>
                <a:cs typeface="Courier New" pitchFamily="34" charset="-120"/>
              </a:rPr>
              <a:t>IA</a:t>
            </a:r>
            <a:endParaRPr lang="en-US" sz="1300" dirty="0"/>
          </a:p>
        </p:txBody>
      </p:sp>
      <p:sp>
        <p:nvSpPr>
          <p:cNvPr id="29" name="Text 23"/>
          <p:cNvSpPr/>
          <p:nvPr/>
        </p:nvSpPr>
        <p:spPr>
          <a:xfrm>
            <a:off x="6527800" y="4619923"/>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Procesamiento asíncrono</a:t>
            </a:r>
            <a:endParaRPr lang="en-US" sz="1700" dirty="0"/>
          </a:p>
        </p:txBody>
      </p:sp>
      <p:sp>
        <p:nvSpPr>
          <p:cNvPr id="30" name="Text 24"/>
          <p:cNvSpPr/>
          <p:nvPr/>
        </p:nvSpPr>
        <p:spPr>
          <a:xfrm>
            <a:off x="6527800" y="4998343"/>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Circuit breaker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812800" y="8128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2F6FA"/>
                </a:solidFill>
                <a:latin typeface="Arial" pitchFamily="34" charset="0"/>
                <a:ea typeface="Arial" pitchFamily="34" charset="-122"/>
                <a:cs typeface="Arial" pitchFamily="34" charset="-120"/>
              </a:rPr>
              <a:t>Resultados del MVP</a:t>
            </a:r>
            <a:endParaRPr lang="en-US" sz="2800" dirty="0"/>
          </a:p>
        </p:txBody>
      </p:sp>
      <p:sp>
        <p:nvSpPr>
          <p:cNvPr id="3" name="Shape 1"/>
          <p:cNvSpPr/>
          <p:nvPr/>
        </p:nvSpPr>
        <p:spPr>
          <a:xfrm>
            <a:off x="812800" y="1457920"/>
            <a:ext cx="5156200" cy="1740396"/>
          </a:xfrm>
          <a:prstGeom prst="roundRect">
            <a:avLst>
              <a:gd name="adj" fmla="val 6567"/>
            </a:avLst>
          </a:prstGeom>
          <a:solidFill>
            <a:srgbClr val="12263D"/>
          </a:solidFill>
          <a:ln/>
        </p:spPr>
      </p:sp>
      <p:sp>
        <p:nvSpPr>
          <p:cNvPr id="4" name="Text 2"/>
          <p:cNvSpPr/>
          <p:nvPr/>
        </p:nvSpPr>
        <p:spPr>
          <a:xfrm>
            <a:off x="1092200" y="1711920"/>
            <a:ext cx="4735322" cy="572095"/>
          </a:xfrm>
          <a:prstGeom prst="rect">
            <a:avLst/>
          </a:prstGeom>
          <a:noFill/>
          <a:ln/>
        </p:spPr>
        <p:txBody>
          <a:bodyPr wrap="square" lIns="0" tIns="0" rIns="0" bIns="0" rtlCol="0" anchor="t">
            <a:normAutofit/>
          </a:bodyPr>
          <a:lstStyle/>
          <a:p>
            <a:pPr algn="l" indent="0" marL="0">
              <a:lnSpc>
                <a:spcPts val="4305"/>
              </a:lnSpc>
              <a:buNone/>
            </a:pPr>
            <a:r>
              <a:rPr lang="en-US" sz="4100" b="1" dirty="0">
                <a:solidFill>
                  <a:srgbClr val="F1706A"/>
                </a:solidFill>
                <a:latin typeface="Arial" pitchFamily="34" charset="0"/>
                <a:ea typeface="Arial" pitchFamily="34" charset="-122"/>
                <a:cs typeface="Arial" pitchFamily="34" charset="-120"/>
              </a:rPr>
              <a:t>29</a:t>
            </a:r>
            <a:r>
              <a:rPr lang="en-US" sz="4100" b="1" dirty="0">
                <a:solidFill>
                  <a:srgbClr val="F2F6FA"/>
                </a:solidFill>
                <a:latin typeface="Arial" pitchFamily="34" charset="0"/>
                <a:ea typeface="Arial" pitchFamily="34" charset="-122"/>
                <a:cs typeface="Arial" pitchFamily="34" charset="-120"/>
              </a:rPr>
              <a:t> → </a:t>
            </a:r>
            <a:r>
              <a:rPr lang="en-US" sz="4100" b="1" dirty="0">
                <a:solidFill>
                  <a:srgbClr val="5FE3B4"/>
                </a:solidFill>
                <a:latin typeface="Arial" pitchFamily="34" charset="0"/>
                <a:ea typeface="Arial" pitchFamily="34" charset="-122"/>
                <a:cs typeface="Arial" pitchFamily="34" charset="-120"/>
              </a:rPr>
              <a:t>0</a:t>
            </a:r>
            <a:endParaRPr lang="en-US" sz="4100" dirty="0"/>
          </a:p>
        </p:txBody>
      </p:sp>
      <p:sp>
        <p:nvSpPr>
          <p:cNvPr id="5" name="Text 3"/>
          <p:cNvSpPr/>
          <p:nvPr/>
        </p:nvSpPr>
        <p:spPr>
          <a:xfrm>
            <a:off x="1092200" y="2334816"/>
            <a:ext cx="473532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deadlocks</a:t>
            </a:r>
            <a:endParaRPr lang="en-US" sz="1700" dirty="0"/>
          </a:p>
        </p:txBody>
      </p:sp>
      <p:sp>
        <p:nvSpPr>
          <p:cNvPr id="6" name="Text 4"/>
          <p:cNvSpPr/>
          <p:nvPr/>
        </p:nvSpPr>
        <p:spPr>
          <a:xfrm>
            <a:off x="1092200" y="2713236"/>
            <a:ext cx="473532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A93AB"/>
                </a:solidFill>
                <a:latin typeface="Courier New" pitchFamily="34" charset="0"/>
                <a:ea typeface="Courier New" pitchFamily="34" charset="-122"/>
                <a:cs typeface="Courier New" pitchFamily="34" charset="-120"/>
              </a:rPr>
              <a:t>30 transferencias cruzadas · prueba local</a:t>
            </a:r>
            <a:endParaRPr lang="en-US" sz="1300" dirty="0"/>
          </a:p>
        </p:txBody>
      </p:sp>
      <p:sp>
        <p:nvSpPr>
          <p:cNvPr id="7" name="Shape 5"/>
          <p:cNvSpPr/>
          <p:nvPr/>
        </p:nvSpPr>
        <p:spPr>
          <a:xfrm>
            <a:off x="6223000" y="1457920"/>
            <a:ext cx="5156200" cy="1740396"/>
          </a:xfrm>
          <a:prstGeom prst="roundRect">
            <a:avLst>
              <a:gd name="adj" fmla="val 6567"/>
            </a:avLst>
          </a:prstGeom>
          <a:solidFill>
            <a:srgbClr val="12263D"/>
          </a:solidFill>
          <a:ln/>
        </p:spPr>
      </p:sp>
      <p:sp>
        <p:nvSpPr>
          <p:cNvPr id="8" name="Text 6"/>
          <p:cNvSpPr/>
          <p:nvPr/>
        </p:nvSpPr>
        <p:spPr>
          <a:xfrm>
            <a:off x="6502400" y="1711920"/>
            <a:ext cx="4735322" cy="572095"/>
          </a:xfrm>
          <a:prstGeom prst="rect">
            <a:avLst/>
          </a:prstGeom>
          <a:noFill/>
          <a:ln/>
        </p:spPr>
        <p:txBody>
          <a:bodyPr wrap="square" lIns="0" tIns="0" rIns="0" bIns="0" rtlCol="0" anchor="t">
            <a:normAutofit/>
          </a:bodyPr>
          <a:lstStyle/>
          <a:p>
            <a:pPr algn="l" indent="0" marL="0">
              <a:lnSpc>
                <a:spcPts val="4305"/>
              </a:lnSpc>
              <a:buNone/>
            </a:pPr>
            <a:r>
              <a:rPr lang="en-US" sz="4100" b="1" dirty="0">
                <a:solidFill>
                  <a:srgbClr val="F1706A"/>
                </a:solidFill>
                <a:latin typeface="Arial" pitchFamily="34" charset="0"/>
                <a:ea typeface="Arial" pitchFamily="34" charset="-122"/>
                <a:cs typeface="Arial" pitchFamily="34" charset="-120"/>
              </a:rPr>
              <a:t>37,7 s</a:t>
            </a:r>
            <a:r>
              <a:rPr lang="en-US" sz="4100" b="1" dirty="0">
                <a:solidFill>
                  <a:srgbClr val="F2F6FA"/>
                </a:solidFill>
                <a:latin typeface="Arial" pitchFamily="34" charset="0"/>
                <a:ea typeface="Arial" pitchFamily="34" charset="-122"/>
                <a:cs typeface="Arial" pitchFamily="34" charset="-120"/>
              </a:rPr>
              <a:t> → </a:t>
            </a:r>
            <a:r>
              <a:rPr lang="en-US" sz="4100" b="1" dirty="0">
                <a:solidFill>
                  <a:srgbClr val="5FE3B4"/>
                </a:solidFill>
                <a:latin typeface="Arial" pitchFamily="34" charset="0"/>
                <a:ea typeface="Arial" pitchFamily="34" charset="-122"/>
                <a:cs typeface="Arial" pitchFamily="34" charset="-120"/>
              </a:rPr>
              <a:t>4,1 s</a:t>
            </a:r>
            <a:endParaRPr lang="en-US" sz="4100" dirty="0"/>
          </a:p>
        </p:txBody>
      </p:sp>
      <p:sp>
        <p:nvSpPr>
          <p:cNvPr id="9" name="Text 7"/>
          <p:cNvSpPr/>
          <p:nvPr/>
        </p:nvSpPr>
        <p:spPr>
          <a:xfrm>
            <a:off x="6502400" y="2334816"/>
            <a:ext cx="473532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2F6FA"/>
                </a:solidFill>
                <a:latin typeface="Arial" pitchFamily="34" charset="0"/>
                <a:ea typeface="Arial" pitchFamily="34" charset="-122"/>
                <a:cs typeface="Arial" pitchFamily="34" charset="-120"/>
              </a:rPr>
              <a:t>sincronización con Bancs</a:t>
            </a:r>
            <a:endParaRPr lang="en-US" sz="1700" dirty="0"/>
          </a:p>
        </p:txBody>
      </p:sp>
      <p:sp>
        <p:nvSpPr>
          <p:cNvPr id="10" name="Text 8"/>
          <p:cNvSpPr/>
          <p:nvPr/>
        </p:nvSpPr>
        <p:spPr>
          <a:xfrm>
            <a:off x="6502400" y="2713236"/>
            <a:ext cx="473532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A93AB"/>
                </a:solidFill>
                <a:latin typeface="Courier New" pitchFamily="34" charset="0"/>
                <a:ea typeface="Courier New" pitchFamily="34" charset="-122"/>
                <a:cs typeface="Courier New" pitchFamily="34" charset="-120"/>
              </a:rPr>
              <a:t>individual → batch · 1.000 cambios</a:t>
            </a:r>
            <a:endParaRPr lang="en-US" sz="1300" dirty="0"/>
          </a:p>
        </p:txBody>
      </p:sp>
      <p:sp>
        <p:nvSpPr>
          <p:cNvPr id="11" name="Text 9"/>
          <p:cNvSpPr/>
          <p:nvPr/>
        </p:nvSpPr>
        <p:spPr>
          <a:xfrm>
            <a:off x="812800" y="3452316"/>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93AB"/>
                </a:solidFill>
                <a:latin typeface="Courier New" pitchFamily="34" charset="0"/>
                <a:ea typeface="Courier New" pitchFamily="34" charset="-122"/>
                <a:cs typeface="Courier New" pitchFamily="34" charset="-120"/>
              </a:rPr>
              <a:t>37–47 TPS · MVP local · un proceso</a:t>
            </a:r>
            <a:endParaRPr lang="en-US" sz="1400" dirty="0"/>
          </a:p>
        </p:txBody>
      </p:sp>
      <p:sp>
        <p:nvSpPr>
          <p:cNvPr id="12" name="Shape 10"/>
          <p:cNvSpPr/>
          <p:nvPr/>
        </p:nvSpPr>
        <p:spPr>
          <a:xfrm>
            <a:off x="812800" y="3955157"/>
            <a:ext cx="2422525" cy="426641"/>
          </a:xfrm>
          <a:prstGeom prst="roundRect">
            <a:avLst>
              <a:gd name="adj" fmla="val 50000"/>
            </a:avLst>
          </a:prstGeom>
          <a:solidFill>
            <a:srgbClr val="12263D"/>
          </a:solidFill>
          <a:ln/>
        </p:spPr>
      </p:sp>
      <p:pic>
        <p:nvPicPr>
          <p:cNvPr id="13" name="Image 0" descr="Check">    </p:cNvPr>
          <p:cNvPicPr>
            <a:picLocks noChangeAspect="1"/>
          </p:cNvPicPr>
          <p:nvPr/>
        </p:nvPicPr>
        <p:blipFill>
          <a:blip r:embed="rId1"/>
          <a:srcRect l="0" r="0" t="0" b="0"/>
          <a:stretch/>
        </p:blipFill>
        <p:spPr>
          <a:xfrm>
            <a:off x="990600" y="4092277"/>
            <a:ext cx="152400" cy="152400"/>
          </a:xfrm>
          <a:prstGeom prst="rect">
            <a:avLst/>
          </a:prstGeom>
        </p:spPr>
      </p:pic>
      <p:sp>
        <p:nvSpPr>
          <p:cNvPr id="14" name="Text 11"/>
          <p:cNvSpPr/>
          <p:nvPr/>
        </p:nvSpPr>
        <p:spPr>
          <a:xfrm>
            <a:off x="1219200" y="4044057"/>
            <a:ext cx="18934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Consistencia financiera</a:t>
            </a:r>
            <a:endParaRPr lang="en-US" sz="1400" dirty="0"/>
          </a:p>
        </p:txBody>
      </p:sp>
      <p:sp>
        <p:nvSpPr>
          <p:cNvPr id="15" name="Shape 12"/>
          <p:cNvSpPr/>
          <p:nvPr/>
        </p:nvSpPr>
        <p:spPr>
          <a:xfrm>
            <a:off x="3336925" y="3955157"/>
            <a:ext cx="1651695" cy="426641"/>
          </a:xfrm>
          <a:prstGeom prst="roundRect">
            <a:avLst>
              <a:gd name="adj" fmla="val 50000"/>
            </a:avLst>
          </a:prstGeom>
          <a:solidFill>
            <a:srgbClr val="12263D"/>
          </a:solidFill>
          <a:ln/>
        </p:spPr>
      </p:sp>
      <p:pic>
        <p:nvPicPr>
          <p:cNvPr id="16" name="Image 1" descr="Check">    </p:cNvPr>
          <p:cNvPicPr>
            <a:picLocks noChangeAspect="1"/>
          </p:cNvPicPr>
          <p:nvPr/>
        </p:nvPicPr>
        <p:blipFill>
          <a:blip r:embed="rId2"/>
          <a:srcRect l="0" r="0" t="0" b="0"/>
          <a:stretch/>
        </p:blipFill>
        <p:spPr>
          <a:xfrm>
            <a:off x="3514725" y="4092277"/>
            <a:ext cx="152400" cy="152400"/>
          </a:xfrm>
          <a:prstGeom prst="rect">
            <a:avLst/>
          </a:prstGeom>
        </p:spPr>
      </p:pic>
      <p:sp>
        <p:nvSpPr>
          <p:cNvPr id="17" name="Text 13"/>
          <p:cNvSpPr/>
          <p:nvPr/>
        </p:nvSpPr>
        <p:spPr>
          <a:xfrm>
            <a:off x="3743325" y="4044057"/>
            <a:ext cx="111829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Idempotencia</a:t>
            </a:r>
            <a:endParaRPr lang="en-US" sz="1400" dirty="0"/>
          </a:p>
        </p:txBody>
      </p:sp>
      <p:sp>
        <p:nvSpPr>
          <p:cNvPr id="18" name="Shape 14"/>
          <p:cNvSpPr/>
          <p:nvPr/>
        </p:nvSpPr>
        <p:spPr>
          <a:xfrm>
            <a:off x="5090220" y="3955157"/>
            <a:ext cx="2205335" cy="426641"/>
          </a:xfrm>
          <a:prstGeom prst="roundRect">
            <a:avLst>
              <a:gd name="adj" fmla="val 50000"/>
            </a:avLst>
          </a:prstGeom>
          <a:solidFill>
            <a:srgbClr val="12263D"/>
          </a:solidFill>
          <a:ln/>
        </p:spPr>
      </p:sp>
      <p:pic>
        <p:nvPicPr>
          <p:cNvPr id="19" name="Image 2" descr="Check">    </p:cNvPr>
          <p:cNvPicPr>
            <a:picLocks noChangeAspect="1"/>
          </p:cNvPicPr>
          <p:nvPr/>
        </p:nvPicPr>
        <p:blipFill>
          <a:blip r:embed="rId3"/>
          <a:srcRect l="0" r="0" t="0" b="0"/>
          <a:stretch/>
        </p:blipFill>
        <p:spPr>
          <a:xfrm>
            <a:off x="5268020" y="4092277"/>
            <a:ext cx="152400" cy="152400"/>
          </a:xfrm>
          <a:prstGeom prst="rect">
            <a:avLst/>
          </a:prstGeom>
        </p:spPr>
      </p:pic>
      <p:sp>
        <p:nvSpPr>
          <p:cNvPr id="20" name="Text 15"/>
          <p:cNvSpPr/>
          <p:nvPr/>
        </p:nvSpPr>
        <p:spPr>
          <a:xfrm>
            <a:off x="5496620" y="4044057"/>
            <a:ext cx="16719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Integridad del ledger</a:t>
            </a:r>
            <a:endParaRPr lang="en-US" sz="1400" dirty="0"/>
          </a:p>
        </p:txBody>
      </p:sp>
      <p:sp>
        <p:nvSpPr>
          <p:cNvPr id="21" name="Shape 16"/>
          <p:cNvSpPr/>
          <p:nvPr/>
        </p:nvSpPr>
        <p:spPr>
          <a:xfrm>
            <a:off x="7397155" y="3955157"/>
            <a:ext cx="1641673" cy="426641"/>
          </a:xfrm>
          <a:prstGeom prst="roundRect">
            <a:avLst>
              <a:gd name="adj" fmla="val 50000"/>
            </a:avLst>
          </a:prstGeom>
          <a:solidFill>
            <a:srgbClr val="12263D"/>
          </a:solidFill>
          <a:ln/>
        </p:spPr>
      </p:sp>
      <p:pic>
        <p:nvPicPr>
          <p:cNvPr id="22" name="Image 3" descr="Check">    </p:cNvPr>
          <p:cNvPicPr>
            <a:picLocks noChangeAspect="1"/>
          </p:cNvPicPr>
          <p:nvPr/>
        </p:nvPicPr>
        <p:blipFill>
          <a:blip r:embed="rId4"/>
          <a:srcRect l="0" r="0" t="0" b="0"/>
          <a:stretch/>
        </p:blipFill>
        <p:spPr>
          <a:xfrm>
            <a:off x="7574955" y="4092277"/>
            <a:ext cx="152400" cy="152400"/>
          </a:xfrm>
          <a:prstGeom prst="rect">
            <a:avLst/>
          </a:prstGeom>
        </p:spPr>
      </p:pic>
      <p:sp>
        <p:nvSpPr>
          <p:cNvPr id="23" name="Text 17"/>
          <p:cNvSpPr/>
          <p:nvPr/>
        </p:nvSpPr>
        <p:spPr>
          <a:xfrm>
            <a:off x="7803555" y="4044057"/>
            <a:ext cx="110827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Concurrencia</a:t>
            </a:r>
            <a:endParaRPr lang="en-US" sz="1400" dirty="0"/>
          </a:p>
        </p:txBody>
      </p:sp>
      <p:sp>
        <p:nvSpPr>
          <p:cNvPr id="24" name="Shape 18"/>
          <p:cNvSpPr/>
          <p:nvPr/>
        </p:nvSpPr>
        <p:spPr>
          <a:xfrm>
            <a:off x="9140428" y="3955157"/>
            <a:ext cx="2136180" cy="426641"/>
          </a:xfrm>
          <a:prstGeom prst="roundRect">
            <a:avLst>
              <a:gd name="adj" fmla="val 50000"/>
            </a:avLst>
          </a:prstGeom>
          <a:solidFill>
            <a:srgbClr val="12263D"/>
          </a:solidFill>
          <a:ln/>
        </p:spPr>
      </p:sp>
      <p:pic>
        <p:nvPicPr>
          <p:cNvPr id="25" name="Image 4" descr="Check">    </p:cNvPr>
          <p:cNvPicPr>
            <a:picLocks noChangeAspect="1"/>
          </p:cNvPicPr>
          <p:nvPr/>
        </p:nvPicPr>
        <p:blipFill>
          <a:blip r:embed="rId5"/>
          <a:srcRect l="0" r="0" t="0" b="0"/>
          <a:stretch/>
        </p:blipFill>
        <p:spPr>
          <a:xfrm>
            <a:off x="9318228" y="4092277"/>
            <a:ext cx="152400" cy="152400"/>
          </a:xfrm>
          <a:prstGeom prst="rect">
            <a:avLst/>
          </a:prstGeom>
        </p:spPr>
      </p:pic>
      <p:sp>
        <p:nvSpPr>
          <p:cNvPr id="26" name="Text 19"/>
          <p:cNvSpPr/>
          <p:nvPr/>
        </p:nvSpPr>
        <p:spPr>
          <a:xfrm>
            <a:off x="9546828" y="4044057"/>
            <a:ext cx="160278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Bancs desacoplado</a:t>
            </a:r>
            <a:endParaRPr lang="en-US" sz="1400" dirty="0"/>
          </a:p>
        </p:txBody>
      </p:sp>
      <p:sp>
        <p:nvSpPr>
          <p:cNvPr id="27" name="Shape 20"/>
          <p:cNvSpPr/>
          <p:nvPr/>
        </p:nvSpPr>
        <p:spPr>
          <a:xfrm>
            <a:off x="812800" y="4483398"/>
            <a:ext cx="1918990" cy="426641"/>
          </a:xfrm>
          <a:prstGeom prst="roundRect">
            <a:avLst>
              <a:gd name="adj" fmla="val 50000"/>
            </a:avLst>
          </a:prstGeom>
          <a:solidFill>
            <a:srgbClr val="12263D"/>
          </a:solidFill>
          <a:ln/>
        </p:spPr>
      </p:sp>
      <p:pic>
        <p:nvPicPr>
          <p:cNvPr id="28" name="Image 5" descr="Check">    </p:cNvPr>
          <p:cNvPicPr>
            <a:picLocks noChangeAspect="1"/>
          </p:cNvPicPr>
          <p:nvPr/>
        </p:nvPicPr>
        <p:blipFill>
          <a:blip r:embed="rId6"/>
          <a:srcRect l="0" r="0" t="0" b="0"/>
          <a:stretch/>
        </p:blipFill>
        <p:spPr>
          <a:xfrm>
            <a:off x="990600" y="4620518"/>
            <a:ext cx="152400" cy="152400"/>
          </a:xfrm>
          <a:prstGeom prst="rect">
            <a:avLst/>
          </a:prstGeom>
        </p:spPr>
      </p:pic>
      <p:sp>
        <p:nvSpPr>
          <p:cNvPr id="29" name="Text 21"/>
          <p:cNvSpPr/>
          <p:nvPr/>
        </p:nvSpPr>
        <p:spPr>
          <a:xfrm>
            <a:off x="1219200" y="4572298"/>
            <a:ext cx="138559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IA no bloqueante</a:t>
            </a:r>
            <a:endParaRPr lang="en-US" sz="1400" dirty="0"/>
          </a:p>
        </p:txBody>
      </p:sp>
      <p:sp>
        <p:nvSpPr>
          <p:cNvPr id="30" name="Shape 22"/>
          <p:cNvSpPr/>
          <p:nvPr/>
        </p:nvSpPr>
        <p:spPr>
          <a:xfrm>
            <a:off x="2833390" y="4483398"/>
            <a:ext cx="1770261" cy="426641"/>
          </a:xfrm>
          <a:prstGeom prst="roundRect">
            <a:avLst>
              <a:gd name="adj" fmla="val 50000"/>
            </a:avLst>
          </a:prstGeom>
          <a:solidFill>
            <a:srgbClr val="12263D"/>
          </a:solidFill>
          <a:ln/>
        </p:spPr>
      </p:sp>
      <p:pic>
        <p:nvPicPr>
          <p:cNvPr id="31" name="Image 6" descr="Check">    </p:cNvPr>
          <p:cNvPicPr>
            <a:picLocks noChangeAspect="1"/>
          </p:cNvPicPr>
          <p:nvPr/>
        </p:nvPicPr>
        <p:blipFill>
          <a:blip r:embed="rId7"/>
          <a:srcRect l="0" r="0" t="0" b="0"/>
          <a:stretch/>
        </p:blipFill>
        <p:spPr>
          <a:xfrm>
            <a:off x="3011190" y="4620518"/>
            <a:ext cx="152400" cy="152400"/>
          </a:xfrm>
          <a:prstGeom prst="rect">
            <a:avLst/>
          </a:prstGeom>
        </p:spPr>
      </p:pic>
      <p:sp>
        <p:nvSpPr>
          <p:cNvPr id="32" name="Text 23"/>
          <p:cNvSpPr/>
          <p:nvPr/>
        </p:nvSpPr>
        <p:spPr>
          <a:xfrm>
            <a:off x="3239790" y="4572298"/>
            <a:ext cx="123686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F6FA"/>
                </a:solidFill>
                <a:latin typeface="Arial" pitchFamily="34" charset="0"/>
                <a:ea typeface="Arial" pitchFamily="34" charset="-122"/>
                <a:cs typeface="Arial" pitchFamily="34" charset="-120"/>
              </a:rPr>
              <a:t>Observabilidad</a:t>
            </a:r>
            <a:endParaRPr lang="en-US" sz="1400" dirty="0"/>
          </a:p>
        </p:txBody>
      </p:sp>
      <p:sp>
        <p:nvSpPr>
          <p:cNvPr id="33" name="Text 24"/>
          <p:cNvSpPr/>
          <p:nvPr/>
        </p:nvSpPr>
        <p:spPr>
          <a:xfrm>
            <a:off x="812800" y="5252938"/>
            <a:ext cx="626937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6FA"/>
                </a:solidFill>
                <a:latin typeface="Arial" pitchFamily="34" charset="0"/>
                <a:ea typeface="Arial" pitchFamily="34" charset="-122"/>
                <a:cs typeface="Arial" pitchFamily="34" charset="-120"/>
              </a:rPr>
              <a:t>Consistencia primero. Escalabilidad después.</a:t>
            </a:r>
            <a:endParaRPr lang="en-US" sz="2200" dirty="0"/>
          </a:p>
        </p:txBody>
      </p:sp>
      <p:sp>
        <p:nvSpPr>
          <p:cNvPr id="34" name="Text 25"/>
          <p:cNvSpPr/>
          <p:nvPr/>
        </p:nvSpPr>
        <p:spPr>
          <a:xfrm>
            <a:off x="7324090" y="5164038"/>
            <a:ext cx="4055110" cy="505420"/>
          </a:xfrm>
          <a:prstGeom prst="rect">
            <a:avLst/>
          </a:prstGeom>
          <a:noFill/>
          <a:ln/>
        </p:spPr>
        <p:txBody>
          <a:bodyPr wrap="square" lIns="0" tIns="0" rIns="0" bIns="0" rtlCol="0" anchor="t">
            <a:normAutofit/>
          </a:bodyPr>
          <a:lstStyle/>
          <a:p>
            <a:pPr algn="r" indent="0" marL="0">
              <a:lnSpc>
                <a:spcPts val="1890"/>
              </a:lnSpc>
              <a:buNone/>
            </a:pPr>
            <a:r>
              <a:rPr lang="en-US" sz="1400" dirty="0">
                <a:solidFill>
                  <a:srgbClr val="9FB3C8"/>
                </a:solidFill>
                <a:latin typeface="Arial" pitchFamily="34" charset="0"/>
                <a:ea typeface="Arial" pitchFamily="34" charset="-122"/>
                <a:cs typeface="Arial" pitchFamily="34" charset="-120"/>
              </a:rPr>
              <a:t>10.000 TPS es el objetivo arquitectónico, no un resultado medido del MVP.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SmartBancs App — Defensa técnica</dc:title>
  <dc:subject>PptxGenJS Presentation</dc:subject>
  <dc:creator>PptxGenJS</dc:creator>
  <cp:lastModifiedBy>PptxGenJS</cp:lastModifiedBy>
  <cp:revision>1</cp:revision>
  <dcterms:created xsi:type="dcterms:W3CDTF">2026-09-21T01:01:11Z</dcterms:created>
  <dcterms:modified xsi:type="dcterms:W3CDTF">2026-09-21T01:01:11Z</dcterms:modified>
</cp:coreProperties>
</file>